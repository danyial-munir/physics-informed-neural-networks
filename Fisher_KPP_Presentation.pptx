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91840"/>
            <a:ext cx="8229600" cy="8229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3611880"/>
            <a:ext cx="8229600" cy="82296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931920"/>
            <a:ext cx="8229600" cy="8229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4251960"/>
            <a:ext cx="8229600" cy="82296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486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71981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BOLOGNA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Physics-Informed Neural Networks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94360" y="24871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Classical PDEs and ODEs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1792" y="3200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Oscillator  ·  Burgers' Equation  ·  Fisher–KPP Equation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" y="36576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PINN case studies — forward &amp; inverse problems, extrapolation, and hyperparameter tuning — with primary focus on the Fisher–KPP reaction-diffusion equation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5440680"/>
            <a:ext cx="420624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5559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5806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Danyial Munir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68680" y="6217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Professor — University of Bologna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556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152704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99032" y="1581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Overview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99032" y="19019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PINN projects, one shared codebase pattern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417320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6464808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5564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881360" y="152704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068312" y="1581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Oscillator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068312" y="19019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2nd-order ODE — mass-spring-damper system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4360" y="2633472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" y="2633472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6"/>
          <p:cNvSpPr/>
          <p:nvPr/>
        </p:nvSpPr>
        <p:spPr>
          <a:xfrm>
            <a:off x="795528" y="2852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7180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27432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99032" y="279806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Burgers' Equation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399032" y="311810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advection-diffusion &amp; shock formation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63640" y="2633472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63640" y="2633472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2"/>
          <p:cNvSpPr/>
          <p:nvPr/>
        </p:nvSpPr>
        <p:spPr>
          <a:xfrm>
            <a:off x="6464808" y="2852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971800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881360" y="27432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068312" y="279806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Fisher–KPP Equation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068312" y="311810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Reaction-diffusion traveling wave (main focus)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94360" y="3849624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94360" y="3849624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Shape 28"/>
          <p:cNvSpPr/>
          <p:nvPr/>
        </p:nvSpPr>
        <p:spPr>
          <a:xfrm>
            <a:off x="795528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87952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12080" y="395935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399032" y="40142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Fisher–KPP Inverse Problem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1399032" y="433425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D and r from noisy observations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263640" y="3849624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263640" y="3849624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Shape 34"/>
          <p:cNvSpPr/>
          <p:nvPr/>
        </p:nvSpPr>
        <p:spPr>
          <a:xfrm>
            <a:off x="6464808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187952"/>
            <a:ext cx="219456" cy="21945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881360" y="395935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7068312" y="40142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Fisher–KPP Extended Experiments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7068312" y="433425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D/r sweep, blind extrapolation, Optuna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594360" y="5065776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594360" y="5065776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8" name="Shape 40"/>
          <p:cNvSpPr/>
          <p:nvPr/>
        </p:nvSpPr>
        <p:spPr>
          <a:xfrm>
            <a:off x="795528" y="52852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404104"/>
            <a:ext cx="219456" cy="21945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212080" y="517550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51" name="Text 42"/>
          <p:cNvSpPr/>
          <p:nvPr/>
        </p:nvSpPr>
        <p:spPr>
          <a:xfrm>
            <a:off x="1399032" y="52303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Comparison</a:t>
            </a:r>
            <a:endParaRPr lang="en-US" sz="1400" dirty="0"/>
          </a:p>
        </p:txBody>
      </p:sp>
      <p:sp>
        <p:nvSpPr>
          <p:cNvPr id="52" name="Text 43"/>
          <p:cNvSpPr/>
          <p:nvPr/>
        </p:nvSpPr>
        <p:spPr>
          <a:xfrm>
            <a:off x="1399032" y="55504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PINN methodology across all three equations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6263640" y="5065776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6263640" y="5065776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5" name="Shape 46"/>
          <p:cNvSpPr/>
          <p:nvPr/>
        </p:nvSpPr>
        <p:spPr>
          <a:xfrm>
            <a:off x="6464808" y="52852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404104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0881360" y="517550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58" name="Text 48"/>
          <p:cNvSpPr/>
          <p:nvPr/>
        </p:nvSpPr>
        <p:spPr>
          <a:xfrm>
            <a:off x="7068312" y="52303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9" name="Text 49"/>
          <p:cNvSpPr/>
          <p:nvPr/>
        </p:nvSpPr>
        <p:spPr>
          <a:xfrm>
            <a:off x="7068312" y="55504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takeaways</a:t>
            </a:r>
            <a:endParaRPr lang="en-US" sz="1050" dirty="0"/>
          </a:p>
        </p:txBody>
      </p:sp>
      <p:sp>
        <p:nvSpPr>
          <p:cNvPr id="60" name="Text 50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61" name="Text 5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PINN projects sharing one architectural pattern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0876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988" y="20071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Damped Oscillator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200400"/>
            <a:ext cx="297180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y'' + c y' + k y = 0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3886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2nd-order ODE — under/over/critically damped regimes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150876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508760"/>
            <a:ext cx="35204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6440" y="1828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0071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Burgers' Equation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200400"/>
            <a:ext cx="297180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9" name="Text 15"/>
          <p:cNvSpPr/>
          <p:nvPr/>
        </p:nvSpPr>
        <p:spPr>
          <a:xfrm>
            <a:off x="4663440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 + u u_x = ν u_xx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663440" y="3886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advection-diffusion PDE — shockwave formation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83880" y="150876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83880" y="1508760"/>
            <a:ext cx="352044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Shape 19"/>
          <p:cNvSpPr/>
          <p:nvPr/>
        </p:nvSpPr>
        <p:spPr>
          <a:xfrm>
            <a:off x="9601200" y="182880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508" y="200710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 Equation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8458200" y="3200400"/>
            <a:ext cx="297180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7" name="Text 22"/>
          <p:cNvSpPr/>
          <p:nvPr/>
        </p:nvSpPr>
        <p:spPr>
          <a:xfrm>
            <a:off x="8458200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 = D u_xx + r u(1−u)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458200" y="3886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Reaction-diffusion PDE — traveling wave front (this talk's focus)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structure across all three: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 · model.py · losses.py · trainer.py · plot.py · analytic.py · scripts/ · tests/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48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7031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Damped Oscillator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02920" y="2560320"/>
            <a:ext cx="324612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y'' + c y' + k y = 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linear 2nd-order ODE for a mass-spring-damper system.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Damping ratio ζ = c / (2√(mk)) sets the regime: underdamped, critically damped, or overdamped.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17720" y="502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Method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617720" y="15910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188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95160" y="1188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m=1.0, c=0.5, k=4.0  (ζ=0.125, underdamped)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20482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1645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95160" y="1645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y(0)=1.0,  y'(0)=0.0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25054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21031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995160" y="2103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hidden layers × 64 units, Tanh, input = t only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17720" y="29626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25603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995160" y="2560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= m y'' + c y' + k y  (2nd-order autograd)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17720" y="34198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3017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split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95160" y="30175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t_dom=6s (training) → t_extrap=10s (extrapolation)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17720" y="38770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995160" y="3474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noisy observations, σ=0.05, 500 collocation points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17720" y="43342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17720" y="3931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995160" y="3931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Adam, lr=5e-3, StepLR, 30000 epochs, early stop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Damped Oscillator: PINN Fit &amp; Extrapolation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Underdamped case — fit on [0, 6s], blind extrapolation to [6, 10s]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928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/Users/imranmunir/dev/pinn-dho-burgers/Damped_Oscillator/outputs/pinn_underdamped/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54480"/>
            <a:ext cx="1101852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48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7031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Burgers' Equation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02920" y="2560320"/>
            <a:ext cx="324612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 + u·u_x = ν·u_xx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advection-diffusion PDE; viscosity ν controls shock smoothing.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initial-condition presets: Gauss, N-wave, N-wave-chop, Step-up/down, Slope.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17720" y="502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Method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617720" y="15910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188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95160" y="1188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ν=0.05,  IC=Gauss,  L=15,  n_x=1000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4617720" y="20482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1645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95160" y="1645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hidden layers × 96 units, Tanh, input = (t,x)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4617720" y="25054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21031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995160" y="2103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= u_t + u·u_x − ν·u_xx  (autograd u_x, u_xx)</a:t>
            </a:r>
            <a:endParaRPr lang="en-US" sz="1070" dirty="0"/>
          </a:p>
        </p:txBody>
      </p:sp>
      <p:sp>
        <p:nvSpPr>
          <p:cNvPr id="20" name="Shape 17"/>
          <p:cNvSpPr/>
          <p:nvPr/>
        </p:nvSpPr>
        <p:spPr>
          <a:xfrm>
            <a:off x="4617720" y="29626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25603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split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995160" y="2560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t_dom=5s (training) → t_extrap=7s (extrapolation)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4617720" y="34198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3017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mode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95160" y="30175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InverseFCNet learns ν̂ via softplus reparam.</a:t>
            </a:r>
            <a:endParaRPr lang="en-US" sz="1070" dirty="0"/>
          </a:p>
        </p:txBody>
      </p:sp>
      <p:sp>
        <p:nvSpPr>
          <p:cNvPr id="26" name="Shape 23"/>
          <p:cNvSpPr/>
          <p:nvPr/>
        </p:nvSpPr>
        <p:spPr>
          <a:xfrm>
            <a:off x="4617720" y="38770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995160" y="3474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Dirichlet, IC-dependent left/right values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4617720" y="4334256"/>
            <a:ext cx="69037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17720" y="39319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995160" y="3931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Adam, lr=2e-3, StepLR, 30000 epochs, early stop</a:t>
            </a:r>
            <a:endParaRPr lang="en-US" sz="1070" dirty="0"/>
          </a:p>
        </p:txBody>
      </p:sp>
      <p:sp>
        <p:nvSpPr>
          <p:cNvPr id="32" name="Text 29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Burgers' Equation: PINN vs. Ground Truth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0.05, Gaussian initial condition — shock formation captured by the PINN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928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/Users/imranmunir/dev/pinn-dho-burgers/Burgers_Equation/outputs/Gauss_nu_0.05/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54480"/>
            <a:ext cx="1101852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48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7031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Main Focus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45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02920" y="2560320"/>
            <a:ext cx="324612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7432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 = D·u_xx + r·u(1−u)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independently by Fisher and Kolmogorov–Petrovsky–Piskunov (1937).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logistic population growth (rate r) coupled with spatial diffusion (coefficient D).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617720" y="502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Traveling Wave Front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617720" y="1143000"/>
            <a:ext cx="694944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wave speed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2√(r·D)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321040" y="129844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speed at which a monotone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traveling-wave solution exists.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2423160"/>
            <a:ext cx="347472" cy="347472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63" y="2513503"/>
            <a:ext cx="166787" cy="166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20640" y="23957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120640" y="272491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step: u(x,0) = 0.5(1 − tanh(x/ε))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617720" y="3355848"/>
            <a:ext cx="347472" cy="347472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063" y="3446191"/>
            <a:ext cx="166787" cy="166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33284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2064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Dirichlet: u(−L,t)=1,  u(L,t)=0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617720" y="4288536"/>
            <a:ext cx="347472" cy="347472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063" y="4378879"/>
            <a:ext cx="166787" cy="166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42611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120640" y="459028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connecting u=1 (invaded) to u=0 (uninvaded), moving at speed c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617720" y="5221224"/>
            <a:ext cx="347472" cy="347472"/>
          </a:xfrm>
          <a:prstGeom prst="ellipse">
            <a:avLst/>
          </a:prstGeom>
          <a:solidFill>
            <a:srgbClr val="F4F7F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063" y="5311567"/>
            <a:ext cx="166787" cy="1667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0640" y="51937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120640" y="552297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genetics, epidemic spread, combustion, ecology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Fisher–KPP: PINN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1206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Fully-Connected Network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51560" y="3410712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62456" y="3566160"/>
            <a:ext cx="1014984" cy="-57607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62456" y="3566160"/>
            <a:ext cx="1014984" cy="-1554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62456" y="3566160"/>
            <a:ext cx="1014984" cy="26517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62456" y="3566160"/>
            <a:ext cx="1014984" cy="68580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62456" y="3566160"/>
            <a:ext cx="1014984" cy="11064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1560" y="383133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62456" y="3986784"/>
            <a:ext cx="1014984" cy="-99669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62456" y="3986784"/>
            <a:ext cx="1014984" cy="-57607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62456" y="3986784"/>
            <a:ext cx="1014984" cy="-1554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62456" y="3986784"/>
            <a:ext cx="1014984" cy="26517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62456" y="3986784"/>
            <a:ext cx="1014984" cy="68580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8920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x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377440" y="28346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88336" y="2990088"/>
            <a:ext cx="101498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88336" y="2990088"/>
            <a:ext cx="1014984" cy="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88336" y="2990088"/>
            <a:ext cx="1014984" cy="8412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88336" y="2990088"/>
            <a:ext cx="1014984" cy="126187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88336" y="2990088"/>
            <a:ext cx="1014984" cy="168249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377440" y="325526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88336" y="3410712"/>
            <a:ext cx="1014984" cy="-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688336" y="3410712"/>
            <a:ext cx="101498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688336" y="3410712"/>
            <a:ext cx="1014984" cy="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688336" y="3410712"/>
            <a:ext cx="1014984" cy="8412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688336" y="3410712"/>
            <a:ext cx="1014984" cy="126187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377440" y="36758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88336" y="3831336"/>
            <a:ext cx="1014984" cy="-8412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688336" y="3831336"/>
            <a:ext cx="1014984" cy="-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88336" y="3831336"/>
            <a:ext cx="101498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688336" y="3831336"/>
            <a:ext cx="1014984" cy="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688336" y="3831336"/>
            <a:ext cx="1014984" cy="8412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77440" y="409651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88336" y="4251960"/>
            <a:ext cx="1014984" cy="-126187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688336" y="4251960"/>
            <a:ext cx="1014984" cy="-8412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688336" y="4251960"/>
            <a:ext cx="1014984" cy="-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688336" y="4251960"/>
            <a:ext cx="101498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688336" y="4251960"/>
            <a:ext cx="1014984" cy="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77440" y="451713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88336" y="4672584"/>
            <a:ext cx="1014984" cy="-168249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688336" y="4672584"/>
            <a:ext cx="1014984" cy="-126187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688336" y="4672584"/>
            <a:ext cx="1014984" cy="-841248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688336" y="4672584"/>
            <a:ext cx="1014984" cy="-420624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688336" y="4672584"/>
            <a:ext cx="1014984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057400" y="48920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703320" y="28346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014216" y="2990088"/>
            <a:ext cx="1014984" cy="76809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703320" y="325526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014216" y="3410712"/>
            <a:ext cx="1014984" cy="34747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703320" y="36758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014216" y="3831336"/>
            <a:ext cx="1014984" cy="-73152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703320" y="409651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014216" y="4251960"/>
            <a:ext cx="1014984" cy="-49377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03320" y="451713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014216" y="4672584"/>
            <a:ext cx="1014984" cy="-91440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383280" y="48920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5029200" y="3602736"/>
            <a:ext cx="310896" cy="310896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709160" y="48920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u(t,x)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868680" y="54406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activations — twice-differentiable, required since the physics loss needs ∂²u/∂x² via autograd (ReLU has zero second derivative).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variant adds learnable D̂, r̂ reparameterized through softplus to stay positive.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5989320" y="1508760"/>
            <a:ext cx="56235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1913839"/>
            <a:ext cx="241402" cy="241402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690372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Loss Function</a:t>
            </a:r>
            <a:endParaRPr lang="en-US" sz="1550" dirty="0"/>
          </a:p>
        </p:txBody>
      </p:sp>
      <p:sp>
        <p:nvSpPr>
          <p:cNvPr id="70" name="Shape 66"/>
          <p:cNvSpPr/>
          <p:nvPr/>
        </p:nvSpPr>
        <p:spPr>
          <a:xfrm>
            <a:off x="6263640" y="2423160"/>
            <a:ext cx="5120640" cy="5943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1" name="Text 67"/>
          <p:cNvSpPr/>
          <p:nvPr/>
        </p:nvSpPr>
        <p:spPr>
          <a:xfrm>
            <a:off x="6355080" y="24231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λ_phys·L_phys + λ_ic·L_ic + λ_bc·L_bc ( + L_data )</a:t>
            </a:r>
            <a:endParaRPr lang="en-US" sz="1300" dirty="0"/>
          </a:p>
        </p:txBody>
      </p:sp>
      <p:sp>
        <p:nvSpPr>
          <p:cNvPr id="72" name="Text 68"/>
          <p:cNvSpPr/>
          <p:nvPr/>
        </p:nvSpPr>
        <p:spPr>
          <a:xfrm>
            <a:off x="6263640" y="3246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L_phys</a:t>
            </a:r>
            <a:endParaRPr lang="en-US" sz="1300" dirty="0"/>
          </a:p>
        </p:txBody>
      </p:sp>
      <p:sp>
        <p:nvSpPr>
          <p:cNvPr id="73" name="Text 69"/>
          <p:cNvSpPr/>
          <p:nvPr/>
        </p:nvSpPr>
        <p:spPr>
          <a:xfrm>
            <a:off x="7269480" y="3246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 − D·u_xx − r·u(1−u) = 0</a:t>
            </a:r>
            <a:endParaRPr lang="en-US" sz="1050" dirty="0"/>
          </a:p>
        </p:txBody>
      </p:sp>
      <p:sp>
        <p:nvSpPr>
          <p:cNvPr id="74" name="Text 70"/>
          <p:cNvSpPr/>
          <p:nvPr/>
        </p:nvSpPr>
        <p:spPr>
          <a:xfrm>
            <a:off x="6263640" y="361188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residual at random collocation points</a:t>
            </a:r>
            <a:endParaRPr lang="en-US" sz="1000" dirty="0"/>
          </a:p>
        </p:txBody>
      </p:sp>
      <p:sp>
        <p:nvSpPr>
          <p:cNvPr id="75" name="Text 71"/>
          <p:cNvSpPr/>
          <p:nvPr/>
        </p:nvSpPr>
        <p:spPr>
          <a:xfrm>
            <a:off x="6263640" y="40325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L_ic</a:t>
            </a:r>
            <a:endParaRPr lang="en-US" sz="1300" dirty="0"/>
          </a:p>
        </p:txBody>
      </p:sp>
      <p:sp>
        <p:nvSpPr>
          <p:cNvPr id="76" name="Text 72"/>
          <p:cNvSpPr/>
          <p:nvPr/>
        </p:nvSpPr>
        <p:spPr>
          <a:xfrm>
            <a:off x="7269480" y="40325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u(0,x) = 0.5(1−tanh(x/ε))</a:t>
            </a:r>
            <a:endParaRPr lang="en-US" sz="1050" dirty="0"/>
          </a:p>
        </p:txBody>
      </p:sp>
      <p:sp>
        <p:nvSpPr>
          <p:cNvPr id="77" name="Text 73"/>
          <p:cNvSpPr/>
          <p:nvPr/>
        </p:nvSpPr>
        <p:spPr>
          <a:xfrm>
            <a:off x="6263640" y="439826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Initial-condition mismatch</a:t>
            </a:r>
            <a:endParaRPr lang="en-US" sz="1000" dirty="0"/>
          </a:p>
        </p:txBody>
      </p:sp>
      <p:sp>
        <p:nvSpPr>
          <p:cNvPr id="78" name="Text 74"/>
          <p:cNvSpPr/>
          <p:nvPr/>
        </p:nvSpPr>
        <p:spPr>
          <a:xfrm>
            <a:off x="6263640" y="48188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L_bc</a:t>
            </a:r>
            <a:endParaRPr lang="en-US" sz="1300" dirty="0"/>
          </a:p>
        </p:txBody>
      </p:sp>
      <p:sp>
        <p:nvSpPr>
          <p:cNvPr id="79" name="Text 75"/>
          <p:cNvSpPr/>
          <p:nvPr/>
        </p:nvSpPr>
        <p:spPr>
          <a:xfrm>
            <a:off x="7269480" y="48188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u(−L,t)=1,  u(L,t)=0</a:t>
            </a:r>
            <a:endParaRPr lang="en-US" sz="1050" dirty="0"/>
          </a:p>
        </p:txBody>
      </p:sp>
      <p:sp>
        <p:nvSpPr>
          <p:cNvPr id="80" name="Text 76"/>
          <p:cNvSpPr/>
          <p:nvPr/>
        </p:nvSpPr>
        <p:spPr>
          <a:xfrm>
            <a:off x="6263640" y="518464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mismatch (Dirichlet)</a:t>
            </a:r>
            <a:endParaRPr lang="en-US" sz="1000" dirty="0"/>
          </a:p>
        </p:txBody>
      </p:sp>
      <p:sp>
        <p:nvSpPr>
          <p:cNvPr id="81" name="Text 77"/>
          <p:cNvSpPr/>
          <p:nvPr/>
        </p:nvSpPr>
        <p:spPr>
          <a:xfrm>
            <a:off x="6263640" y="56052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L_data</a:t>
            </a:r>
            <a:endParaRPr lang="en-US" sz="1300" dirty="0"/>
          </a:p>
        </p:txBody>
      </p:sp>
      <p:sp>
        <p:nvSpPr>
          <p:cNvPr id="82" name="Text 78"/>
          <p:cNvSpPr/>
          <p:nvPr/>
        </p:nvSpPr>
        <p:spPr>
          <a:xfrm>
            <a:off x="7269480" y="56052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vs. noisy FD samples</a:t>
            </a:r>
            <a:endParaRPr lang="en-US" sz="1050" dirty="0"/>
          </a:p>
        </p:txBody>
      </p:sp>
      <p:sp>
        <p:nvSpPr>
          <p:cNvPr id="83" name="Text 79"/>
          <p:cNvSpPr/>
          <p:nvPr/>
        </p:nvSpPr>
        <p:spPr>
          <a:xfrm>
            <a:off x="6263640" y="597103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inverse / hybrid training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85" name="Text 8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Fisher–KPP: Reference Solver &amp; Training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94960" cy="4709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Finite-Difference Reference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central-difference scheme for u_xx, explicit reaction term.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CFL-stable time step: dt ≤ cfl·dx²/D (von Neumann diffusion limit).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term |r·u(1−u)| ≤ r/4 for u∈[0,1] — bounded, does not tighten stability.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generate noisy observations &amp; the validation grid for the PINN.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4709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19138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28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Configuration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46520" y="2807208"/>
            <a:ext cx="4892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2423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595360" y="24231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20,  T = 6,  n_x = 400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46520" y="3246120"/>
            <a:ext cx="4892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286207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/ growth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595360" y="28620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1.0,  r = 1.0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46520" y="3685032"/>
            <a:ext cx="4892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330098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595360" y="330098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hidden layers × 64 units, Tanh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46520" y="4123944"/>
            <a:ext cx="4892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46520" y="373989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weights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595360" y="373989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λ_phys=1, λ_ic=10, λ_bc=10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46520" y="4562856"/>
            <a:ext cx="4892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41788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points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595360" y="41788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 PDE, 100 BC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446520" y="5001768"/>
            <a:ext cx="4892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46520" y="4617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595360" y="46177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Adam, lr=2e-3, StepLR schedule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46520" y="5440680"/>
            <a:ext cx="4892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446520" y="50566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8595360" y="50566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20000 epochs, early stop (patience)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 Forward Problem: Solution Field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1.0, r = 1.0 — PINN vs. finite-difference reference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18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/Users/imranmunir/dev/pinn-dho-burgers/Fisher_KPP/outputs/D1_r1/solu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45920"/>
            <a:ext cx="1056132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 front from u=1 to u=0 propagates at the predicted speed; the PINN heatmap is visually indistinguishable from the FD reference.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 Forward Problem: Snapshots &amp; Convergence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486400" cy="4709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profile at fixed times</a:t>
            </a:r>
            <a:endParaRPr lang="en-US" sz="1250" dirty="0"/>
          </a:p>
        </p:txBody>
      </p:sp>
      <p:pic>
        <p:nvPicPr>
          <p:cNvPr id="6" name="Image 0" descr="/Users/imranmunir/dev/pinn-dho-burgers/Fisher_KPP/outputs/D1_r1/snapsho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965960"/>
            <a:ext cx="512064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349240" cy="4709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6276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(log scale)</a:t>
            </a:r>
            <a:endParaRPr lang="en-US" sz="1250" dirty="0"/>
          </a:p>
        </p:txBody>
      </p:sp>
      <p:pic>
        <p:nvPicPr>
          <p:cNvPr id="9" name="Image 1" descr="/Users/imranmunir/dev/pinn-dho-burgers/Fisher_KPP/outputs/D1_r1/loss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1965960"/>
            <a:ext cx="4983480" cy="411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 Inverse Problem: Parameter Recovery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6576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InverseFCNet learns D̂, r̂ jointly with u(t,x).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reparameterized via softplus — guarantees positivity.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 in U(0.5, 2.0); trained against noisy synthetic observations.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values: D = 1.0, r = 1.0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508760"/>
            <a:ext cx="717804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7720" y="16276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convergence during training</a:t>
            </a:r>
            <a:endParaRPr lang="en-US" sz="1250" dirty="0"/>
          </a:p>
        </p:txBody>
      </p:sp>
      <p:pic>
        <p:nvPicPr>
          <p:cNvPr id="11" name="Image 1" descr="/Users/imranmunir/dev/pinn-dho-burgers/Fisher_KPP/outputs/inversepinn_D1_r1/parameter_converge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965960"/>
            <a:ext cx="6812280" cy="411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 Extended Experiments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82296" cy="2148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1051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94127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No-Physics Ablation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22402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data loss only (λ_phys=0) to isolate the contribution of the PDE residual term.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14400" y="33192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D=1, r=1 → outputs/D1_r1_ML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34924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554480"/>
            <a:ext cx="82296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181051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431" y="1941271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/ r Parameter Sweep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583680" y="22402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grid over D, r ∈ {0.5, 1.0, 2.0} — 9 combinations — to test generalisation across physical regimes.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6583680" y="33192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outputs/D{D}_r{r}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94360" y="3977640"/>
            <a:ext cx="534924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" y="3977640"/>
            <a:ext cx="82296" cy="2148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6"/>
          <p:cNvSpPr/>
          <p:nvPr/>
        </p:nvSpPr>
        <p:spPr>
          <a:xfrm>
            <a:off x="850392" y="423367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" y="4364431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Extrapolation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14400" y="46634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points restricted to [0, t_train]; PINN must extrapolate the wave front beyond its training window.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914400" y="5742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t_train=3, T=6 → outputs/D1_r1_extrapblind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263640" y="3977640"/>
            <a:ext cx="5349240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63640" y="3977640"/>
            <a:ext cx="82296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2"/>
          <p:cNvSpPr/>
          <p:nvPr/>
        </p:nvSpPr>
        <p:spPr>
          <a:xfrm>
            <a:off x="6519672" y="423367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431" y="4364431"/>
            <a:ext cx="241402" cy="24140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7804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Search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6583680" y="46634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TPE-based tuning over network width/depth, loss weights, learning rate, and scheduler — with median pruning.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6583680" y="5742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outputs/optuna_tuning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Fisher–KPP Blind Extrapolation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t ∈ [0, 3], evaluated on the full domain t ∈ [0, 6]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18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/Users/imranmunir/dev/pinn-dho-burgers/Fisher_KPP/outputs/D1_r1_extrapblind/solu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45920"/>
            <a:ext cx="1056132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 extends the front correctly past t=3 — the wave's constant propagation speed (c = 2√(rD)) is baked into the residual, so the network extrapolates without ever seeing labeled data there.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Cross-Project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PINN methodology, three different physical behaviours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097280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Oscillator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29400" y="1508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Burgers' Equation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Fisher–KPP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1097280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20116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ODE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629400" y="201168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PDE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601200" y="201168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PDE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" y="2578608"/>
            <a:ext cx="10972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57860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→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257860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629400" y="257860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(t,x) → u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601200" y="257860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(t,x) → u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4360" y="3145536"/>
            <a:ext cx="1097280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455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nonlinearity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14553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(linear)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629400" y="314553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u·u_x (advection)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9601200" y="314553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r·u(1−u) (reaction)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94360" y="3712464"/>
            <a:ext cx="10972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71246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feature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37124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Oscillatory decay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29400" y="371246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Shockwave formation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601200" y="371246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 wave front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94360" y="4279392"/>
            <a:ext cx="1097280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27939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target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46120" y="427939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c, k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6629400" y="4279392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(viscosity)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9601200" y="42793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D, r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94360" y="4846320"/>
            <a:ext cx="10972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463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 test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46120" y="48463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t_dom→t_extrap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629400" y="484632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t_dom→t_extrap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9601200" y="484632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t_train / train_extrap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594360" y="5413248"/>
            <a:ext cx="10972800" cy="566928"/>
          </a:xfrm>
          <a:prstGeom prst="rect">
            <a:avLst/>
          </a:prstGeom>
          <a:solidFill>
            <a:srgbClr val="F4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132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46120" y="54132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(TPE)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6629400" y="541324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(TPE)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9601200" y="541324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(TPE)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Solutions to Classical PDEs &amp; ODEs — Damped Oscillator · Burgers' Equation · Fisher–KPP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6400800" cy="6400800"/>
          </a:xfrm>
          <a:prstGeom prst="ellipse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365760"/>
            <a:ext cx="6400800" cy="6400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182880"/>
            <a:ext cx="6400800" cy="6400800"/>
          </a:xfrm>
          <a:prstGeom prst="ellipse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0292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26" y="66458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280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21792" y="2057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0" y="2152498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0116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PINNs — one linear ODE, two nonlinear PDEs — are solved by the same recipe: a Tanh-MLP trained on autograd-derived residual, IC, and BC losses, with no interior labeled data required.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" y="31089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3204058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0632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Fisher–KPP specifically, the network reproduces the traveling wave to FD-reference accuracy, and its inverse variant recovers D and r from noisy data via a softplus-constrained parameterization.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" y="41605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90" y="4255618"/>
            <a:ext cx="175565" cy="1755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11480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term is what enables extrapolation: blind training on t∈[0,3] still predicts the correct Fisher–KPP front position at t=6.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21792" y="5212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0" y="5307178"/>
            <a:ext cx="175565" cy="17556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5166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tuning and the D/r sweep confirm the architecture generalises across the parameter space — the same pattern validated earlier on the Damped Oscillator and Burgers' Equation projects.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594360" y="6263640"/>
            <a:ext cx="109728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4"/>
          <p:cNvSpPr/>
          <p:nvPr/>
        </p:nvSpPr>
        <p:spPr>
          <a:xfrm>
            <a:off x="59436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Danyial Munir — University of Bologna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 Solutions to Classical PDEs &amp; ODEs</dc:title>
  <dc:subject>PptxGenJS Presentation</dc:subject>
  <dc:creator>Danyial Munir</dc:creator>
  <cp:lastModifiedBy>Danyial Munir</cp:lastModifiedBy>
  <cp:revision>1</cp:revision>
  <dcterms:created xsi:type="dcterms:W3CDTF">2026-07-11T17:43:00Z</dcterms:created>
  <dcterms:modified xsi:type="dcterms:W3CDTF">2026-07-11T17:43:00Z</dcterms:modified>
</cp:coreProperties>
</file>